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411480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6B6D4"/>
                </a:solidFill>
              </a:defRPr>
            </a:pPr>
            <a:r>
              <a:t>MEGA-TREND</a:t>
            </a:r>
          </a:p>
          <a:p>
            <a:pPr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2026–2035</a:t>
            </a:r>
            <a:br/>
            <a:r>
              <a:t>투자 전략 발표자료</a:t>
            </a:r>
          </a:p>
          <a:p>
            <a:pPr>
              <a:defRPr sz="1800" b="0">
                <a:solidFill>
                  <a:srgbClr val="94A3B8"/>
                </a:solidFill>
              </a:defRPr>
            </a:pPr>
            <a:r>
              <a:t>8대 메가트렌드 · 수요 시점 · 180+ 종목 분석</a:t>
            </a:r>
          </a:p>
          <a:p>
            <a:pPr>
              <a:defRPr sz="800" b="0">
                <a:solidFill>
                  <a:srgbClr val="94A3B8"/>
                </a:solidFill>
              </a:defRPr>
            </a:pPr>
          </a:p>
          <a:p>
            <a:pPr>
              <a:defRPr sz="1300" b="0">
                <a:solidFill>
                  <a:srgbClr val="94A3B8"/>
                </a:solidFill>
              </a:defRPr>
            </a:pPr>
            <a:r>
              <a:t>2026년 7월 5일</a:t>
            </a:r>
          </a:p>
          <a:p>
            <a:pPr>
              <a:defRPr sz="1100" b="0">
                <a:solidFill>
                  <a:srgbClr val="94A3B8"/>
                </a:solidFill>
              </a:defRPr>
            </a:pPr>
            <a:r>
              <a:t>Morgan Stanley · McKinsey · Gartner · CHIPS 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CONFIDENTIAL — For Discussion Purposes                                    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목차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01   Executive Summary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핵심 메시지 · 시장 규모 · 수요 Heatmap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32588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41732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02   AI 물리 인프라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2차 파생 — Electrons, Not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03   원자력 · AI 전력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PPA Rush · SMR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28600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37744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04   반도체 · CHIPS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리쇼어링 · 48D 마감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4612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05   양자 · PQC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FTQC Roadmap · 보안 마이그레이션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24612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333756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06   자율 · 로보틱스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Factory → Humanoid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07   우주 경제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Launch · Connectivity · Defense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20624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429768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08   바이오 · GLP-1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Code Meets Cell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16636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25780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09   경제안보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희토류 · 방산 · Cyber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5166360"/>
            <a:ext cx="4114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5257800"/>
            <a:ext cx="3840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10   결론 · Appendix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Horizon · ETF · 면책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오늘의 핵심 논지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The Great Broadening —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9659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$600B+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2026 AI Capex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87168" y="1280160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75–80%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물리 인프라 비중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1280160"/>
            <a:ext cx="1965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8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메가트렌드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38544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38544" y="1280160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180+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분석 종목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▸  메가캡 AI에서 전력·장비·실물자산으로 수익 분산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▸  지금 수요 집중: AI 2차 인프라 · GLP-1 · 원전 PPA · CHIPS 장비</a:t>
            </a:r>
          </a:p>
          <a:p>
            <a:pPr>
              <a:spcAft>
                <a:spcPts val="800"/>
              </a:spcAft>
              <a:defRPr sz="1500">
                <a:solidFill>
                  <a:srgbClr val="334155"/>
                </a:solidFill>
              </a:defRPr>
            </a:pPr>
            <a:r>
              <a:t>▸  다음 Wave (2028–32): SMR · FTQC · Humanoid · PQC 의무화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시장 전망 · 수요 타이밍 · 투자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하이퍼스케일러 AI Capex 폭발적 성장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5</a:t>
            </a:r>
          </a:p>
        </p:txBody>
      </p:sp>
      <p:pic>
        <p:nvPicPr>
          <p:cNvPr id="5" name="Picture 4" descr="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8321040" cy="4113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Capex는 칩이 아닌 물리 인프라로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6</a:t>
            </a:r>
          </a:p>
        </p:txBody>
      </p:sp>
      <p:pic>
        <p:nvPicPr>
          <p:cNvPr id="5" name="Picture 4" descr="al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389120" cy="4619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Goldman: capex의 ~75%가 DC·전력·냉각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Vertiv +270% YoY, 백로그 $15B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변압기 납기 5년 — 공급 제약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2차 파생 = multi-year backlog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데이터센터 전력 수요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7</a:t>
            </a:r>
          </a:p>
        </p:txBody>
      </p:sp>
      <p:pic>
        <p:nvPicPr>
          <p:cNvPr id="5" name="Picture 4" descr="dc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4111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2030 메가트렌드 시장 규모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8</a:t>
            </a:r>
          </a:p>
        </p:txBody>
      </p:sp>
      <p:pic>
        <p:nvPicPr>
          <p:cNvPr id="5" name="Picture 4" descr="market_2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4111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메가트렌드별 수요 강도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9</a:t>
            </a:r>
          </a:p>
        </p:txBody>
      </p:sp>
      <p:pic>
        <p:nvPicPr>
          <p:cNvPr id="5" name="Picture 4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412480" cy="4594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▸  100 = 구조적 수요 정점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▸  AI·바이오·반도체: 지금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▸  양자·로보·우주: 2028+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8대 메가트렌드 한눈에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617220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645920"/>
                <a:gridCol w="1645920"/>
                <a:gridCol w="1463040"/>
                <a:gridCol w="1097280"/>
              </a:tblGrid>
              <a:tr h="31292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트렌드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2030 규모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수요 Peak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AI 물리 인프라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$600B+ capex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2025–32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백로그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원자력·전력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$1.4T 유틸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25–28 / 30–35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반도체·CHIPS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$52.7B+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건설 peak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Fab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양자+PQC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$11.5B QC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PQC 26–31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상용화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로보틱스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$4–18B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28–32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파일럿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우주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$2T(2040)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26–35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GLP-1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$150–190B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24–30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Peak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29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경제안보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$12B+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25–30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정책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투자 Horizon별 섹터 매력도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11</a:t>
            </a:r>
          </a:p>
        </p:txBody>
      </p:sp>
      <p:pic>
        <p:nvPicPr>
          <p:cNvPr id="5" name="Picture 4" descr="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45789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02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AI 물리 인프라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Electrons, Not Tokens · 2025–2032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Value Chain — 자금이 흐르는 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13</a:t>
            </a:r>
          </a:p>
        </p:txBody>
      </p:sp>
      <p:pic>
        <p:nvPicPr>
          <p:cNvPr id="5" name="Picture 4" descr="valu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8412480" cy="33111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3-Layer Physical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188720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39"/>
            <a:ext cx="6400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칩 · 인터커넥트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NVDA  AVGO  MRVL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8229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108960"/>
            <a:ext cx="1188720" cy="8686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063240"/>
            <a:ext cx="6400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랙 전력 · 냉각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VRT  ETN  ABB  Schneider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8229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4709160"/>
            <a:ext cx="1188720" cy="868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006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663440"/>
            <a:ext cx="6400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건물 · 백업 · 그리드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CAT  PWR  GNRC  STX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핵심 종목 — AI 인프라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621792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822960"/>
                <a:gridCol w="1828800"/>
                <a:gridCol w="2011680"/>
                <a:gridCol w="914400"/>
              </a:tblGrid>
              <a:tr h="318733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티커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시총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백로그/가이드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VRT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~$50B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랙 전력·냉각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$15B backlog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ETN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~$140B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변압기·SWGR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AI 15-20% rev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PWR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~$60B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송전 EPC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$44B backlog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NVDA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~$3T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Rubin roadmap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AVGO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~$1T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Custom ASIC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Multi-yr wins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~$180B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DC 건설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$63B backlog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03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원자력 · AI 전력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Nuclear Renaissance · PPA → SMR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빅테크 원자력 확보 경쟁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17</a:t>
            </a:r>
          </a:p>
        </p:txBody>
      </p:sp>
      <p:pic>
        <p:nvPicPr>
          <p:cNvPr id="5" name="Picture 4" descr="nucl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41033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투자 3-Bucket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8229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129  |  Cash-flow 유틸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CEG · VST · TLN · D   —   지금 PPA 수익   |   Risk: Moderate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8229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11  |  SMR Pure-play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OKLO · SMR · NNE   —   2030–35 옵션   |   Risk: Very 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17720"/>
            <a:ext cx="8229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7772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212  |  연료·인프라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CCJ · BWXT · LEU · GEV   —   방산+상업   |   Risk: Moderate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D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04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반도체 · CHIPS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Reshoring · 48D Cliff Dec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CHIPS Act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$38.7B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39B 중 배정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87168" y="1280160"/>
            <a:ext cx="19659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35%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48D Tax Credit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1280160"/>
            <a:ext cx="196596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12/31/26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착공 마감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38544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38544" y="1280160"/>
            <a:ext cx="1965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22%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US Adv Logic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Intel $8.5B + $11B loan + Secure Enclave $3B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TSMC AZ 4nm HVM · Intel 18A · Samsung 2nm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Fab: INTC TSM MU GFS  |  장비: AMAT LRCX KLAC ASML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장비사 = CHIPS 무관하게 capex cycle 수혜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CHIPS 주요 수혜 기업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64008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2286000"/>
                <a:gridCol w="1828800"/>
              </a:tblGrid>
              <a:tr h="318733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기업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CHIPS 지원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프로젝트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Intel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$8.5B+대출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AZ, OH, 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18A HVM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TSMC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$6.6B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Arizona Fab21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4nm 가동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Samsung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$6.4B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Taylor TX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2nm 2026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Micron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$6.16B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NY, Idaho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DRAM megafab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AMAT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장비 #1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Capex cycle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ASML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EUV 독점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35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05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양자 · PQC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FTQC 2028–30 · Security Migration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양자컴퓨팅 시장 성장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23</a:t>
            </a:r>
          </a:p>
        </p:txBody>
      </p:sp>
      <p:pic>
        <p:nvPicPr>
          <p:cNvPr id="5" name="Picture 4" descr="quan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8321040" cy="41111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IonQ vs Google — 기술 포지셔닝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24</a:t>
            </a:r>
          </a:p>
        </p:txBody>
      </p:sp>
      <p:pic>
        <p:nvPicPr>
          <p:cNvPr id="5" name="Picture 4" descr="ionq_goo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229600" cy="45234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5321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▸  IonQ: 상용 매출 $64.7M(Q1'26), RPO $470M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▸  Google: below-threshold QEC 최초 실증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</a:defRPr>
            </a:pPr>
            <a:r>
              <a:t>▸  PQC: PANW CRWD NET LAES — 2030–31 의무화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양자 + PQC 종목 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74980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286000"/>
                <a:gridCol w="1828800"/>
              </a:tblGrid>
              <a:tr h="329184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티커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포지션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수요 시점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하드웨어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IONQ RGTI QBTS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Trapped ion / SC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2028 FTQC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빅테크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IBM GOOGL MSFT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Cloud + R&amp;D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PQC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PANW CRWD NET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TLS·Zero Trust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2026–31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Secure HW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LAES WKEY NXPI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Root of 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2027 ANSSI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06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자율 · 로보틱스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Factory Floor → Humanoid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Autonomy Stack — 3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96596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750K+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Amazon Robots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87168" y="1280160"/>
            <a:ext cx="19659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1/hr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Figure BotQ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1280160"/>
            <a:ext cx="1965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37.9%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CAGR 26-30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38544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38544" y="1280160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$39B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Figure AI 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Ground: TSLA Optimus · UBTECH · AMZN · SYM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Components: NVDA TER CGNX ABB FANUY ROK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Medical: ISRG  |  Defense drones: AVAV KTOS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비상장 Figure/Agility → 간접 노출만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07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우주 경제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SpaceX IPO · Launch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우주 경제 — 투자 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023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SPCX RKLB FLY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80160"/>
            <a:ext cx="4023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402336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5331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Connectivity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6596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ASTS IRDM GSAT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4023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402336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Earth 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PL BKSY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657600"/>
            <a:ext cx="40233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657600"/>
            <a:ext cx="40233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730752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3434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LMT NOC RTX LHX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669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</a:defRPr>
            </a:pPr>
            <a:r>
              <a:t>▸  RKLB Q1'26: $200M rev (+63%), backlog $2.2B+  |  PwC: $2T by 2040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315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08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바이오 · GLP-1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Code Meets Cell · $150–190B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GLP-1 시장 지배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31</a:t>
            </a:r>
          </a:p>
        </p:txBody>
      </p:sp>
      <p:pic>
        <p:nvPicPr>
          <p:cNvPr id="5" name="Picture 4" descr="gl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114800" cy="4176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2030: $150B+ (JPM $200B)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59M 환자 (TD Cowen)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LLY: orforglipron(oral), retatrutide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NVO: CagriSema FDA review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Challenger: AMGN VKTX GPCR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Tools: TMO DHR ILMN CRSP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09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경제안보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Critical Minerals · Defense · Cyber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경제안보 투자 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96596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$12B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Project Vault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87168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87168" y="1280160"/>
            <a:ext cx="19659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15%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DoD in 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2856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1280160"/>
            <a:ext cx="19659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$110/kg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NdPr Floor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38544" y="128016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38544" y="1280160"/>
            <a:ext cx="19659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417319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43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Critical Min Stocks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346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희토류: MP USAR  |  구리: FCX SCCO BHP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방산: LMT NOC RTX GD LHX HII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Gov AI: PLTR  |  Cyber: CRWD PANW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▸  MP: magnet production Dec 2025 시작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6B6D4"/>
                </a:solidFill>
              </a:defRPr>
            </a:pPr>
            <a:r>
              <a:t>10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결론 · Appendix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Action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트렌드별 커버리지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35</a:t>
            </a:r>
          </a:p>
        </p:txBody>
      </p:sp>
      <p:pic>
        <p:nvPicPr>
          <p:cNvPr id="5" name="Picture 4" descr="stock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8412480" cy="41519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투자 실행 프레임워크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71600"/>
          <a:ext cx="841248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2011680"/>
              </a:tblGrid>
              <a:tr h="33832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액션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대표 ETF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0–2년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AI infra · GLP-1 · Nuclear PPA · Semi equip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SOXX, NUKZ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3–5년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SMR · Quantum · Humanoid ·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ARKX, BOTZ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5–10년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PQC · Bio-factory · Lunar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4155"/>
                          </a:solidFill>
                        </a:defRPr>
                      </a:pPr>
                      <a:r>
                        <a:t>HACK, XBI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474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DC 지연 = VRT/PWR 백로그 연장 (장기 positive)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Capped Real Rates → 실물·성장주 우호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▸  면책: 투자 권유 아님 — 최신 공시 확인 필수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9144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1600"/>
              </a:spcBef>
              <a:defRPr sz="2400">
                <a:solidFill>
                  <a:srgbClr val="06B6D4"/>
                </a:solidFill>
              </a:defRPr>
            </a:pPr>
            <a:r>
              <a:t>Q &amp; A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Great Broadening — 좁은 승자에서 넓은 기회로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  Mega-Trend Investment Research 2026                                                                                   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