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목적: 2026–2035 주식시장 메가트렌드와 수요 타이밍, 관련 종목을 한 번에 이해할 수 있도록 구성. 투자 권유가 아닌 리서치 자료입니다.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청중이 자료만 받아도 따라올 수 있게 구조를 안내하는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청중에게 '왜 메가캡 AI만 보면 안 되는지'를 먼저 각인시키는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섹션 01 전체를 관통하는 4가지 메시지.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시: '1조 달러가 어디로 가는가'로 다음 슬라이드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2차 파생(Second Derivative) 개념을 반드시 설명할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전력이 왜 원자력 섹션으로 이어지는지 설명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규모 vs 성장률 트레이드오프 강조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Heatmap은 본 보고서의 '수요 시점' 예측의 핵심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개인 투자 기간에 맞춰 섹션을 선택하도록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Value chain을 그린 뒤 각 레이어 종목 슬라이드로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 2가 투자 포커스 — 공급 제약 + 백로그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SMR은 pre-revenue — Oklo·NuScale 주의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IonQ Q1'26 매출 $64.7M — pure-play 중 유일한 상업 스케일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IonQ: 트랩드 이온, 게이트 충실도 99.99%, all-to-all 연결, Q1'26 RPO $470M. Google Willow: below-threshold QEC 2024 최초 실증, 큐비트 수·확장성 우위. 투자: IonQ=상용 베팅, GOOGL=간접 R&amp;D 옵션.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종목 리스트 전체는 채팅 보고서 원문 참조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943600" y="4114800"/>
            <a:ext cx="4572000" cy="45720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459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06B6D4"/>
                </a:solidFill>
              </a:defRPr>
            </a:pPr>
            <a:r>
              <a:t>MEGA-TREND</a:t>
            </a:r>
          </a:p>
          <a:p>
            <a:pPr>
              <a:lnSpc>
                <a:spcPct val="110000"/>
              </a:lnSpc>
              <a:defRPr sz="4000" b="1">
                <a:solidFill>
                  <a:srgbClr val="FFFFFF"/>
                </a:solidFill>
              </a:defRPr>
            </a:pPr>
            <a:r>
              <a:t>2026–2035</a:t>
            </a:r>
            <a:br/>
            <a:r>
              <a:t>투자 전략 발표자료</a:t>
            </a:r>
          </a:p>
          <a:p>
            <a:pPr>
              <a:defRPr sz="1800" b="0">
                <a:solidFill>
                  <a:srgbClr val="94A3B8"/>
                </a:solidFill>
              </a:defRPr>
            </a:pPr>
            <a:r>
              <a:t>8대 메가트렌드 · 수요 시점 · 180+ 종목 분석</a:t>
            </a:r>
          </a:p>
          <a:p>
            <a:pPr>
              <a:defRPr sz="800" b="0">
                <a:solidFill>
                  <a:srgbClr val="94A3B8"/>
                </a:solidFill>
              </a:defRPr>
            </a:pPr>
          </a:p>
          <a:p>
            <a:pPr>
              <a:defRPr sz="1300" b="0">
                <a:solidFill>
                  <a:srgbClr val="94A3B8"/>
                </a:solidFill>
              </a:defRPr>
            </a:pPr>
            <a:r>
              <a:t>2026년 7월 5일</a:t>
            </a:r>
          </a:p>
          <a:p>
            <a:pPr>
              <a:defRPr sz="1100" b="0">
                <a:solidFill>
                  <a:srgbClr val="94A3B8"/>
                </a:solidFill>
              </a:defRPr>
            </a:pPr>
            <a:r>
              <a:t>Morgan Stanley · McKinsey · Gartner · CHIPS 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CONFIDENTIAL — For Discussion Purposes                                                                          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목차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Table of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01   Executive Summary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핵심 메시지 · 시장 규모 · 수요 Heatmap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32588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83480" y="141732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02   AI 물리 인프라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2차 파생 — Electrons, Not Tokens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7744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03   원자력 · AI 전력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PPA Rush · SMR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28600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237744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04   반도체 · CHIPS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리쇼어링 · 48D 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33756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05   양자 · PQC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FTQC Roadmap · 보안 마이그레이션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24612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33756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06   자율 · 로보틱스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Factory → Humanoid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0624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29768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07   우주 경제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Launch · Connectivity · Defense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420624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429768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08   바이오 · GLP-1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Code Meets Cell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16636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25780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09   경제안보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희토류 · 방산 · Cyber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5166360"/>
            <a:ext cx="411480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80" y="5257800"/>
            <a:ext cx="3840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10   결론 · Appendix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Horizon · ETF · 면책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이 자료 읽는 법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발표자 없이도 이해할 수 있도록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각 섹션은 ①왜 중요한지(배경) → ②데이터(차트) → ③어떤 회사가 수혜인지(종목) 순서로 읽으면 됩니다.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파란색 '핵심 해석' 박스는 차트·표를 어떻게 읽어야 하는지, 투자적으로 무엇을 의미하는지 요약합니다.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슬라이드 하단 번호는 순서이며, PowerPoint '발표자 노트'에 보충 설명을 넣어 두었습니다.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★ Rating은 기술·수요·정부 지원·실현 가능성을 종합한 상대 평가이며, 매수 추천이 아닙니다.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면책 및 데이터 출처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해석 시 유의사항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시가총액·매출·백로그 수치는 2026년 7월 전후 공개 자료 기준이며, 주가 변동에 따라 즉시 달라질 수 있습니다.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수요 시점(예: 2028 FTQC)은 기업 로드맵·애널리스트 추정치이며, 기술·규제 지연 시 2–3년 밀릴 수 있습니다.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출처: Morgan Stanley Big Picture 2026, McKinsey/Gartner Tech Trends, CHIPS Act 공식 문서, Morningstar, IonQ IR, Goldman Sachs AI Capex 리포트 등.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본 자료는 교육·토론 목적이며, 특정 종목 매수·매도를 권유하지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오늘의 핵심 논지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The Great Broadening —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19659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17319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$600B+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2026 AI Capex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8" y="128016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7168" y="1280160"/>
            <a:ext cx="19659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417319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75–80%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물리 인프라 비중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28016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62856" y="1280160"/>
            <a:ext cx="19659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417319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8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메가트렌드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38544" y="128016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544" y="1280160"/>
            <a:ext cx="19659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417319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180+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분석 종목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2023–25년 주식시장은 'AI = Nvidia·Microsoft 등 소수 메가캡'으로 수익이 집중됐습니다. 2026년부터 Morgan Stanley가 말하는 Great Broadening(수익의 대확산)이 시작됩니다.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이유: AI를 돌리려면 GPU만으로는 부족하고, 전력·변압기·냉각·송전·건물이 먼저 필요합니다. 이 '2차 파생' 산업은 주문이 2–3년치 백로그로 쌓이며, GPU 교체 주기와 무관하게 매출이 이어집니다.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동시에 GLP-1(비만약)·원전 PPA·CHIPS 반도체 리쇼어링은 각각 지금 cash flow가 발생하는 축입니다. 양자·휴머노이드·SMR은 2028년 이후 본격화되는 '다음 파도'입니다.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01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Executive Summary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시장 전망 · 수요 타이밍 · 투자 Horizon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8대 메가트렌드의 시장 규모와 '언제' 수요가 몰리는지 정리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AI capex가 실제로 어디로 흐르는지 숫자로 확인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투자 기간(0–2년 / 3–5년 / 5–10년)별 우선순위 제시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Executive Summary — 한 줄 요약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2026년 주식시장의 구조 변화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핵심 변화: AI 투자 금액은 커지지만, 그 돈의 대부분은 칩 회사가 아니라 전력·인프라·건설 회사로 갑니다.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전력 병목: 미국 전력망의 70%가 25년 이상 노후입니다. AI 데이터센터는 2030년까지 전력 수요를 2배 가까이 올립니다.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지정학: 중국과의 기술 경쟁으로 반도체·희토류·방산·사이버 보안에 정부 예산이 구조적으로 붙습니다.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인구·건강: GLP-1는 단순 다이어트약이 아니라 당뇨·심혈관·수면 무호흡 등 대사질환 치료의 새 표준으로 자리 잡는 중입니다.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하이퍼스케일러 AI Capex 폭발적 성장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Microsoft · Meta · Amazon · Alphabet · Oracle 합산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이 차트가 말하는 것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2024년 $250B → 2027년 $1T: 역사상 가장 가파른 기업 투자 사이클 중 하나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숫자는 '가이던스' 기반 — 이미 발표된 계획이므로 허수가 아님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투자 함의: 이 금액의 75% 이상이 인프라·전력·냉각으로 간다면, NVDA만으로는 부족</a:t>
            </a:r>
          </a:p>
        </p:txBody>
      </p:sp>
      <p:pic>
        <p:nvPicPr>
          <p:cNvPr id="8" name="Picture 7" descr="ca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137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AI Capex는 칩이 아닌 물리 인프라로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Goldman Sachs: DC 건설·전력·냉각이 capex의 대부분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51560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51560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왜 80%가 칩이 아닌가?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AI 랙 1개(Blackwell 세대)는 약 120kW — 이전 세대(30kW)의 4배 전력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GPU 가격은 떨어질 수 있지만, '전기를 끌어오는 비용'과 '열을 식히는 비용'은 계속 증가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그래서 Vertiv(냉각)·Eaton(변압기)·Caterpillar(건설)가 NVDA와 같이 또는 더 오른 것</a:t>
            </a:r>
          </a:p>
        </p:txBody>
      </p:sp>
      <p:pic>
        <p:nvPicPr>
          <p:cNvPr id="8" name="Picture 7" descr="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31720"/>
            <a:ext cx="4206240" cy="44273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242316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▸  Vertiv: 백로그 $15B, 주문이 출하의 2.9배 → 2027년까지 매출 가시성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▸  변압기·스위치기어 납기 최대 5년 → 공급 부족 = 가격 결정력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▸  투자자 관점: 'AI 테마주'가 아닌 '산업 장비주'로 보는 것이 정확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▸  리스크: DC 건설 지연 시 단기 주가 조정, but 백로그는 오히려 늘어남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데이터센터 전력 수요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미국 전체 전력 대비 DC 비중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해석 가이드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4.4% → 9%: '작아 보이지만' 절대량은 거대 — 신규 발전 설비 없이는 불가능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지역별 전기요금 상승 → 정치·규제 리스크 (유틸리티 투자 시 주의)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원자력·가스·태양+저장이 AI 전력의 3대 축</a:t>
            </a:r>
          </a:p>
        </p:txBody>
      </p:sp>
      <p:pic>
        <p:nvPicPr>
          <p:cNvPr id="8" name="Picture 7" descr="dc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111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2030 메가트렌드 시장 규모 비교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절대 규모가 큰 순 (로그 스케일 근사)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읽는 법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AI Infra(capex)가 압도적 — 단기 자금 유입 최대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GLP-1·Utilities도 수천억 달러 — 이미 상업 매출 발생 중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Quantum·Humanoid는 작지만 성장률(CAGR) 최고 → 장기 옵션</a:t>
            </a:r>
          </a:p>
        </p:txBody>
      </p:sp>
      <p:pic>
        <p:nvPicPr>
          <p:cNvPr id="8" name="Picture 7" descr="market_2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115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메가트렌드별 수요 강도 Heatmap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연도별로 '돈이 몰리는 세기' (0–100 상대 지수)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색이 진할수록 = 그 시기에 수요·정책·capex가 집중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AI·바이오·반도체: 2025–26이 이미 정점 구간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양자·로보·우주: 2028 이후 진해짐 → 지금은 '포지셔닝' 단계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100은 '절대 매수 신호'가 아니라 구조적 수요 강도</a:t>
            </a:r>
          </a:p>
        </p:txBody>
      </p:sp>
      <p:pic>
        <p:nvPicPr>
          <p:cNvPr id="8" name="Picture 7" descr="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544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8대 메가트렌드 한눈에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이름 · 규모 · Peak · 현재 단계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24128"/>
            <a:ext cx="822960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73152" cy="8595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97280"/>
            <a:ext cx="7909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표 사용법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'수요 Peak' = 주가·실적·정책이 동시에 몰리기 쉬운 구간 (정확한 날짜 아님)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'단계' = 백로그(주문잔고) / PPA(전력계약) / Fab(공장) 등 현재 산업 위치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91640"/>
          <a:ext cx="644652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645920"/>
                <a:gridCol w="1645920"/>
                <a:gridCol w="1463040"/>
                <a:gridCol w="1371600"/>
              </a:tblGrid>
              <a:tr h="312928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트렌드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2030 규모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수요 Peak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단계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1292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AI 물리 인프라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$600B+ capex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2025–32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백로그 폭발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292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원자력·전력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$1.4T 유틸투자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25–28 / 30–35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PPA 체결 rush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92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반도체·CHIPS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$52.7B+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건설 25–27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Fab 가동 시작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292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양자+PQC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$11.5B QC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PQC 26–31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조기 상용화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92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로보틱스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$4–18B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28–32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파일럿→양산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292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우주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$2T(2040)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26–35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IPO·발사 cadence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92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GLP-1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$150–190B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24–30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수요&gt;공급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292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경제안보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$12B+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25–30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정책 주도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투자 Horizon별 섹터 매력도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지금 당장 vs 3년 후 vs 10년 후 — 무엇에 베팅할 것인가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막대가 높을수록 = 해당 기간에 상대적 투자 매력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0–2년: AI 인프라·GLP-1 — 이미 매출·백로그로 증명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3–5년: 원자력 SMR·양자 — LOI·건설·규제 마일스톤 구간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5–10년: PQC 의무화·바이오 팩토리 — regulation-driven</a:t>
            </a:r>
          </a:p>
        </p:txBody>
      </p:sp>
      <p:pic>
        <p:nvPicPr>
          <p:cNvPr id="8" name="Picture 7" descr="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57891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02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AI 물리 인프라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Electrons, Not Tokens · 2025–2032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GPU 다음으로 돈이 가는 '전기·냉각·건설' 레이어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3-Layer Stack으로 어떤 회사가 어느 단계인지 구분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백로그·납기가 핵심 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AI 물리 인프라란?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2차 파생(Second Derivative) 투자의 정의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1차 파생: AI 수요가 직접 올리는 회사 — Nvidia(GPU), Microsoft(Azure), OpenAI(API). 토큰·클라우드 사용량에 매출이 연동됩니다.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2차 파생: AI를 '물리적으로 가능하게' 하는 회사 — 전력을 공급하고, 열을 식히고, 건물을 짓습니다. GPU 수요가 늘면 이들 주문도 늘지만, GPU 가격 하락과 무관하게 성장할 수 있습니다.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왜 지금인가: Blackwell 등 차세대 칩은 전력 밀도가 급증해 액체 냉각이 사실상 필수가 됐고, 미국 전력망은 이 속도로 확장되지 않아 병목이 발생합니다.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핵심 지표: book-to-bill(주문/매출 비율), backlog(잔고), lead time(납기) — PER보다 이 숫자가 더 중요한 구간입니다.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AI Value Chain — 자금이 흐르는 곳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하이퍼스케일러 capex → 1차·2차·3차 수혜자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다이어그램 읽기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왼쪽: MSFT·META 등이 총 capex 결정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중간 2차(청색): 2026년 주가 상승의 중심 — VRT·ETN·PWR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오른쪽 3차(녹색): 전력 생산 — CEG·VST (원자력 섹션과 연결)</a:t>
            </a:r>
          </a:p>
        </p:txBody>
      </p:sp>
      <p:pic>
        <p:nvPicPr>
          <p:cNvPr id="8" name="Picture 7" descr="value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32751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3-Layer Physical Stack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칩 → 랙 → 건물·그리드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822960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1097280" cy="10972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Layer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371600"/>
            <a:ext cx="6675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칩 · 인터커넥트  (GPU·ASIC)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NVDA·AVGO·MRVL — AI 연산 자체. CUDA·커스텀 ASIC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26080"/>
            <a:ext cx="822960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108960"/>
            <a:ext cx="1097280" cy="109728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337560"/>
            <a:ext cx="1097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Layer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63240"/>
            <a:ext cx="6675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랙 전력 · 냉각  (전력·열)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VRT·ETN·ABB — 랙 안팎의 전력분배·액침냉각. AI DC 매출 비중 급증.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617720"/>
            <a:ext cx="822960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800600"/>
            <a:ext cx="1097280" cy="10972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029200"/>
            <a:ext cx="1097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Layer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754880"/>
            <a:ext cx="6675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건물 · 백업 · 그리드  (건설·전력망)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CAT·PWR·GNRC·STX — DC 건설, 송전선, 디젤 백업, 학습 데이터 저장.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핵심 종목 — AI 인프라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역할 · 재무 포인트 · 리스크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19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6537960" cy="2231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1828800"/>
                <a:gridCol w="2286000"/>
                <a:gridCol w="1828800"/>
              </a:tblGrid>
              <a:tr h="318733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티커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하는 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왜 지금?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주의점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VRT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랙 전력·액침냉각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백로그 $15B, S&amp;P500 편입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밸류에이션 높음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ETN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변압기·스위치기어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VRT 대비 저변동, AI 15%+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순수 AI 플레이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PWR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송전·DC EPC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전력망 병목 직접 해소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규제·인허가 지연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NVDA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GPU 풀스택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AI 1차 수혜, FCF 풍부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커스텀 ASIC 대체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AVGO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Google/Meta ASIC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다년 계약·네트워킹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고객 집중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873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DC 건설·발전기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AI 안 보이는 수혜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경기 민감성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4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03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원자력 · AI 전력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Nuclear Renaissance · PPA → SMR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AI DC는 24시간 풀가동 — 태양광만으로는 부족, baseload 전력 필요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지금: 기존 원전 PPA / 나중: SMR 신규 건설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리스크·수익 프로필이 다른 3-Bucket으로 분류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왜 AI가 원자력을 찾는가?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전력 병목의 논리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AI 학습·추론 클러스터는 24/7 가동됩니다. 태양광은 밤에 멈추고, 배터리만으로 GW급을 버티기 어렵습니다.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가스 발전은 가능하지만 탄소·가격 변동 이슈가 있고, 빅테크는 RE100(재생에너지 100%) 목표와 충돌합니다.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원자력은 (1) 연중 무중단 baseload (2) 20년 장기 PPA 가능 (3) GW 단위 확장 — 세 가지를 동시에 만족합니다.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2024–26년 Microsoft–Constellation(TMI 재가동), Meta–6.6GW 패키지 등이 '선례'가 됐고, 이후 발주는 이 선례를 따릅니다.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빅테크 원자력 확보 경쟁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Meta 6.6GW 패키지 구성 (2026.1 발표)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차트 설명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녹색 = 이미 돌아가는 원전에서 전력 공급 (CEG, VST) → 매출·현금흐름 즉시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주황 = SMR(소형모듈로) — 2030–35 가동 예정 → 지금은 주가에 '옵션' 반영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투자 시: Bucket 1(유틸)과 Bucket 2(SMR)는 완전히 다른 리스크</a:t>
            </a:r>
          </a:p>
        </p:txBody>
      </p:sp>
      <p:pic>
        <p:nvPicPr>
          <p:cNvPr id="8" name="Picture 7" descr="nucl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0338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투자 3-Bucket Framework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같은 '원자력 테마' 안에서도 전혀 다른 주식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129  |  Cash-flow 유틸  |  리스크: 중간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CEG · VST · TLN · D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이미 돌아가는 원전 + 20년 PPA. AI DC 전력을 '팔고' 있는 상태. 배당·FCF 가능.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8229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35808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11  |  SMR Pure-play  |  리스크: 매우 높음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OKLO · SMR · NNE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아직 매출 거의 없음. NRC 인허가·건설·고객 LOI가 핵심. 5–10년 binary 옵션.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663440"/>
            <a:ext cx="8229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773168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212  |  연료·인프라  |  리스크: 중간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CCJ · BWXT · LEU · GEV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우라늄·핵연료·터빈. 원전 대수가 늘면 같이 성장. 방산 수요도 겹침.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D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04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반도체 · CHIPS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Reshoring · 48D Cliff Dec 2026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미국 advanced logic 점유율 12% → 22% 회복 중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2026.12.31 48D 세액공제 착공 마감 = 긴급 건설 rush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Fab vs 장비사 — 수혜 구조가 다름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CHIPS Act를 이해해야 하는 이유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지정학 + AI = 반도체 리쇼어링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첨단 칩의 90% 이상이 대만(TSMC)에 집중돼 있다는 것은 미국에게 국가 안보 리스크입니다. 2022년 CHIPS Act는 이를 해소하기 위한 $52.7B+ 패키지입니다.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직접 지원: Intel $8.5B, TSMC $6.6B, Samsung, Micron 등 — fab 건설·현대화.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48D 세액공제: 건설 투자의 35%를 세금으로 돌려받음. 단, 2026년 12월 31일 이전 착공해야 함 → 지금이 건설 피크.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투자 포인트: (A) Fab 운영사 Intel·TSM — turnaround/성장 (B) 장비사 AMAT·LRCX·ASML — fab가 늘면 주문이 늘음, CHIPS 의존도 낮음.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CHIPS Act 현황 — 숫자로 보기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2026년 7월 기준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43000"/>
            <a:ext cx="19659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$38.7B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/39B 배정 완료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8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7168" y="1143000"/>
            <a:ext cx="19659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35%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48D Tax Credit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62856" y="1143000"/>
            <a:ext cx="196596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12/31/26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착공 Dead-line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38544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544" y="1143000"/>
            <a:ext cx="19659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22%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US Adv Logic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060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Intel Ohio는 2030으로 지연됐지만, '착공'만 2026 안에 하면 세액공제는 유지 — 실제 wafer 출하는 몇 년 뒤일 수 있음.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Intel 18A(Arizona)는 이미 HVM(대량생산) — 미국 내 2nm급 파운드리의 상징적 마일스톤.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Secure Enclave: Intel에 DoD $3B — 군·정보기관용 보안 칩 공급망.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CHIPS 주요 수혜 기업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누가 얼마를 받았고, 무엇을 짓는가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6309360" cy="2231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2011680"/>
                <a:gridCol w="2286000"/>
              </a:tblGrid>
              <a:tr h="318733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기업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지원 규모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프로젝트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투자자 관점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Intel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$8.5B+대출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AZ·OH·OR 18A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턴어라운드, 고위험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TSMC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$6.6B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Arizona Fab21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품질·실행력 최상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Samsung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$6.4B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Taylor 2nm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메모리+로직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Micron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$6.16B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NY·Idaho DRAM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AI HBM 수혜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AMAT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—(간접)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장비 1위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Capex cycle 레버리지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873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ASML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—(간접)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EUV 독점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필수 인프라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35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05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양자 · PQC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FTQC 2028–30 · Security Migration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양자컴퓨팅: 아직 초기 상용화, but 로드맵이 2028–30으로 수렴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PQC(포스트퀀텀 암호): 지금 당장 마이그레이션 시작 — regulation driven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하드웨어 vs 보안 — 수익 시점이 다름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양자컴퓨팅 + PQC — 왜 둘 다 중요한가?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공격 기술과 방어 기술이 동시에 움직임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양자컴퓨터가 충분히 강력해지면, 오늘 RSA로 암호화된 데이터를 나중에 해독할 수 있습니다(지금 훔쳐 두고 나중에 푼다 = Harvest Now, Decrypt Later).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그래서 NIST가 2024년 PQC 표준(FIPS 203/204/205)을 확정했고, 미국 정부는 2030–31까지 연방기관·계약업체의 마이그레이션을 요구합니다.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양자 '하드웨어' 투자(IonQ 등)는 2028 FTQC(장애허용 양자컴퓨터) 전후가 관건이고, PQC 투자(PANW, CRWD 등)는 지금부터 5년간 매출이 발생합니다.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결론: 단기 현금흐름은 PQC·클라우드 접근(QaaS)이, 장기 옵션은 하드웨어 pure-play가 큽니다.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양자컴퓨팅 시장 성장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하드웨어 + 클라우드 + 서비스 합산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시장 단계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2025–27: 파일럿·클라우드 접근·정부 R&amp;D — 매출은 작지만 CAGR 40%+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2028–30: FTQC 목표 연도 — 로드맵 달성 여부가 주가 분기점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PQC 시장은 양자 시장보다 절대 규모가 클 수 있음(엔터프라이즈 전체 마이그레이션)</a:t>
            </a:r>
          </a:p>
        </p:txBody>
      </p:sp>
      <p:pic>
        <p:nvPicPr>
          <p:cNvPr id="8" name="Picture 7" descr="quant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1114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IonQ vs Google — 누가 앞서는가?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기술 경로가 다르면 '우위'도 다름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24128"/>
            <a:ext cx="83210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97280"/>
            <a:ext cx="80010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비교 전제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IonQ = 상장 pure-play, 매출·RPO로 검증 가능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Google = Alphabet 내부, 연구·QEC에서 선행, 상용 매출은 작음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점수는 상대 비교(0–100)이며 절대 기술 등급이 아님</a:t>
            </a:r>
          </a:p>
        </p:txBody>
      </p:sp>
      <p:pic>
        <p:nvPicPr>
          <p:cNvPr id="8" name="Picture 7" descr="ionq_goo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48840"/>
            <a:ext cx="8229600" cy="452345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양자 + PQC 종목 맵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구분별로 수익 시점이 다름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7315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011680"/>
                <a:gridCol w="2286000"/>
                <a:gridCol w="2011680"/>
              </a:tblGrid>
              <a:tr h="32918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대표 티커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무엇을 파는가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언제 돈이 되는가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하드웨어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IONQ RGTI QBTS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양자 프로세서·클라우드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2028 FTQC 전후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빅테크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IBM GOOGL MSFT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QaaS·연구·생태계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지금~지속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PQC 소프트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PANW CRWD NET ZS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TLS·방화벽·제로트러스트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2026–31 rush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PQC 하드웨어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LAES WKEY NXPI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보안 칩·HSM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2027 인증 의무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F1D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06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자율 · 로보틱스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Factory Floor → Humanoid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AI가 '분석'에서 '행동'으로 — Physical AI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지금: 창고·공장 / 다음: 휴머노이드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비상장 Figure AI가 valuation 선도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Autonomy Stack이란?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Jensen Huang: '움직이는 모든 것이 자율화된다'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1단계(지금): 창고·공장 — Amazon 75만 대+, Symbotic(Walmart), Fanuc·ABB 산업로봇에 AI 비전·경로계획 탑재.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2단계(2026–28): 물류·검사·위험 작업 — 드론(AVAV), 수술로봇(ISRG)은 이미 수익화.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3단계(2028–32): 휴머노이드 — Tesla Optimus, Figure AI, Boston Dynamics Atlas. 아직 '매출'보다 '파일럿·생산속도'가 뉴스.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투자 현실: pure-play 휴머노이드 상장사는 거의 없음(TSLA, UBTECH). 부품·SI(NVDA, TER, CGNX)가 안전한 간접 노출.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로보틱스 — 지표와 종목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2026년 확인해야 할 마일스톤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43000"/>
            <a:ext cx="196596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750K+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Amazon Robots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8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7168" y="1143000"/>
            <a:ext cx="19659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1대/시간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Figure BotQ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62856" y="1143000"/>
            <a:ext cx="19659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37.9%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CAGR 26-30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38544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544" y="1143000"/>
            <a:ext cx="19659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$39B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Figure AI 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060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Tesla Optimus: 공장 내 테스트 중이나 Musk 본인도 '아직 material usage 아님' 인정 — 2027 consumer 판매가 re-rating 트리거.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Figure AI: 비상장, BotQ 공장 1대/시간 생산 — valuation $39B는 '기대'가 반영된 수치.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확인할 것: 외부 유료 고객 계약 공개, 단가·내구시간·작업 성공률 — 데모 영상만으로는 부족.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07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우주 경제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SpaceX IPO · Launch Economy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발사 비용 하락 → 위성·국방·통신 수요 폭발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SpaceX IPO = 섹터 벤치마크 탄생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Launch / Connect / Observe / Defense 4축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우주 경제가 커지는 이유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더 싸게, 더 자주, 더 많이 올린다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SpaceX가 Falcon 9 재사용으로 kg당 발사 비용을 10배 이상 낮췄습니다. '우주는 정부 전용'에서 '민간 인프라'로 바뀌는 전환점입니다.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2026년 SpaceX 상장(SPCX)은 우주 경제에 '가격 표'가 생긴 것 — 다른 우주주는 SpaceX 대비 할인·프리미엄으로 거래됩니다.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수요 4대 축: (1) Starlink류 위성통신 (2) Earth Observation AI (3) 국방·정찰 (4) 달·궤도 서비스.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Rocket Lab(RKLB): 미국 2위 발사, Neutron으로 중형 시장 진입 시도 — SpaceX 다음으로 순수 플레이에 가까움.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우주 경제 — 4축 투자 맵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각 축의 역할과 대표 종목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40233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02336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9304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Launch · 발사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SPCX RKLB FLY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로켓·엔진. 발사 횟수·성공률·단가가 KPI.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234440"/>
            <a:ext cx="40233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023360" cy="457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289304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Connectivity · 통신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64792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ASTS IRDM GSAT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우주에서 스마트폰·IoT 직연결. 스펙트럼·위성 수가 핵심.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39"/>
            <a:ext cx="40233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749039"/>
            <a:ext cx="4023360" cy="457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803903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Earth Obs · 관측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279392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PL BKSY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위성 이미지 + AI 분석. 농업·보험·군사.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749039"/>
            <a:ext cx="40233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0" y="3749039"/>
            <a:ext cx="402336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803903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Defense · 방산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279392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LMT NOC RTX LHX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위성·미사일·전자전. 정부 예산 연동.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315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08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바이오 · GLP-1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Code Meets Cell · $150–190B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비만약 → 대사질환 표준요법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LLY·NVO duopoly, 2030까지 93%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다음: oral·triple agonist·근손실 개선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GLP-1 — 왜 메가트렌드인가?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Morgan Stanley 'Code Meets Cell'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GLP-1(세마글루타이드·티르제파타이드)는 체중 감량뿐 아니라 당뇨, 심혈관 위험 감소, 수면무호흡 등으로 적응증이 확장 중입니다.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2030년 시장 $150–200B, 환자 5,900만 명(TD Cowen) — 역대 단일 약물 클래스 중 최대 규모 후보.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LLY 62% + NVO 31% = 사실상 duopoly. 신규 진입자(AMGN, VKTX)는 '더 나은 효능·oral·근육 보존'으로 틈새를 노림.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리스크: Medicare 가격 협상, 공급 과잉(2028+), oral·제네릭으로 가격 하락 — but volume이 compensating.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GLP-1 시장 구조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누가 얼마나 가져가는가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24128"/>
            <a:ext cx="438912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73152" cy="8595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97280"/>
            <a:ext cx="4069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차트 읽기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2030년 duopoly 93% — 신규 진입이 어렵지만, oral·triple agonist가 game changer 될 수 있음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투자: LLY/NVO=core · AMGN/VKTX=optionality · TMO/DHR=피킹스앤샤벨</a:t>
            </a:r>
          </a:p>
        </p:txBody>
      </p:sp>
      <p:pic>
        <p:nvPicPr>
          <p:cNvPr id="8" name="Picture 7" descr="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4114800" cy="4176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54880" y="210312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▸  LLY: Mounjaro/Zepbound + orforglipron(oral) + retatrutide(triple)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▸  NVO: Ozempic/Wegovy + CagriSema(amylin combo)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▸  다음 승자 조건: (1) oral 순응도 (2) 근손실 적음 (3) 심장·간 데이터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▸  공급: 2026부터 점진적 완화, but 여전히 병목 구간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C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09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경제안보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Critical Minerals · Defense · Cyber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중국 의존 탈피 = 미국 정책 최우선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희토류·구리·방산·사이버 4축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MP Materials = 희토류의 대표 수혜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경제안보 투자란?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Multipolar World — Morgan Stanley 테마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미·중 기술 경쟁으로 '공급망을 자국에 둔다'는 정책이 CHIPS, IRA, DPA, Project Vault($12B)로 구체화됩니다.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희토류: NdFeB 자석은 EV·풍력·미사일·AI 서버에 필수. 중국이 정제의 대부분을 장악 → MP Materials가 미국 유일 통합 체인.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구리: 전력망·DC·EV 모두 구리 소비 증가. FCX 등 미국/칠레 광산.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방산: 우크라·중동·대만 긴장으로 예산 구조적 증가. LMT·NOC·RTX.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사이버: PQC 마이그레이션 + AI 공격 증가 → CRWD·PANW.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경제안보 — 정책과 종목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정부 돈이 따라오는 곳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43000"/>
            <a:ext cx="196596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$12B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Project Vault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8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7168" y="1143000"/>
            <a:ext cx="19659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15%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DoD→MP 지분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62856" y="1143000"/>
            <a:ext cx="19659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$110/kg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NdPr 가격 바닥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38544" y="1143000"/>
            <a:ext cx="19659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544" y="1143000"/>
            <a:ext cx="19659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280160"/>
            <a:ext cx="1965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43+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Critical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060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MP Materials: DoD 15% 지분 + NdPr $110/kg 10년 floor → 중국 수출 중단 후 미국 내 magnet 생산(2025.12~).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PLTR: 정부·군 AI 소프트웨어 — '실적 모멘텀 + 정책' 겹침.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200">
                <a:solidFill>
                  <a:srgbClr val="334155"/>
                </a:solidFill>
              </a:defRPr>
            </a:pPr>
            <a:r>
              <a:t>주의: 정책 테마주는 선거·행정 변경 시 변동성 극대 — 계약·지급 실적을 분기별 확인.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06B6D4"/>
                </a:solidFill>
              </a:defRPr>
            </a:pPr>
            <a:r>
              <a:t>10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결론 · Appendix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Action Framework</a:t>
            </a:r>
          </a:p>
          <a:p>
            <a:pPr>
              <a:spcBef>
                <a:spcPts val="1800"/>
              </a:spcBef>
            </a:pP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기간별 액션 플랜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ETF·리스크 체크리스트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면책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트렌드별 커버리지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본 보고서에서 분석한 종목 수 (각 20+)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78992"/>
            <a:ext cx="832104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73152" cy="8595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52144"/>
            <a:ext cx="8001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의미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종목 수가 많다 = 테마 내 분산·세부 niches 존재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ETF로 broad exposure, 개별주로 conviction bet</a:t>
            </a:r>
          </a:p>
        </p:txBody>
      </p:sp>
      <p:pic>
        <p:nvPicPr>
          <p:cNvPr id="8" name="Picture 7" descr="stock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8321040" cy="410679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투자 실행 프레임워크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내 기간에 맞는 섹션을 고른다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685800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560320"/>
                <a:gridCol w="2286000"/>
                <a:gridCol w="1097280"/>
              </a:tblGrid>
              <a:tr h="338328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투자 기간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무엇을 볼 것인가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왜?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ETF 예시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0–2년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VRT ETN CEG LLY AMAT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백로그·PPA·매출 증명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SOXX NUKZ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3–5년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OKLO IONQ RKLB TSLA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마일스톤·로드맵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ARKX BOTZ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5–10년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PQC·Gene edit·Lunar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규제 deadline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HACK XBI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3200400"/>
            <a:ext cx="8321040" cy="1335024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3200400"/>
            <a:ext cx="73152" cy="13350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3273552"/>
            <a:ext cx="8001000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리스크 체크리스트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□ 밸류에이션: AI 인프라주는 이미 많이 올랐는지 PER·backlog 대비 확인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□ 실행 리스크: SMR·휴머노이드·양자는 '연기'가 일상적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□ 정치 리스크: 유틸 요금·약가 협상·CHIPS 예산 삭감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</a:defRPr>
            </a:pPr>
            <a:r>
              <a:t>□ 분산: 한 테마에 올인보다 Horizon별 버킷 구성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최종 정리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한 페이지로 돌아보기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2026–30년 주식시장의 중심축은 'AI가 만든 전기·실물·안보 수요'입니다. GPU 한 종목이 아니라, 전기를 공급하고(CEG), 식히고(VRT), 반도체를 만들고(AMAT), 약을 팔고(LLY) 하는 회사들이 같이 움직입니다.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지금 당장 수요가 몰린 곳: AI 2차 인프라, GLP-1, 운영 원전 PPA, CHIPS fab·장비.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3–5년 후 본격화: SMR 가동, FTQC, 휴머노이드 B2B, 우주 Neutron.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5–10년 regulation play: PQC 전면 의무화, 바이오 팩토리, 달 경제.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t>Great Broadening — 좁은 승자에서 넓은 기회로. 본 자료는 투자 권유가 아닙니다.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914400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786384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>
              <a:spcBef>
                <a:spcPts val="1600"/>
              </a:spcBef>
              <a:defRPr sz="2400">
                <a:solidFill>
                  <a:srgbClr val="06B6D4"/>
                </a:solidFill>
              </a:defRPr>
            </a:pPr>
            <a:r>
              <a:t>Q &amp; A</a:t>
            </a:r>
          </a:p>
          <a:p>
            <a:pPr>
              <a:spcBef>
                <a:spcPts val="2400"/>
              </a:spcBef>
              <a:defRPr sz="1400">
                <a:solidFill>
                  <a:srgbClr val="94A3B8"/>
                </a:solidFill>
              </a:defRPr>
            </a:pPr>
            <a:r>
              <a:t>Great Broadening — 좁은 승자에서 넓은 기회로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  Mega-Trend Investment Research 2026                                                                                    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