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2026–2035 메가트렌드</a:t>
            </a:r>
            <a:br/>
            <a:r>
              <a:t>투자 리서치 보고서</a:t>
            </a:r>
          </a:p>
          <a:p>
            <a:pPr>
              <a:defRPr sz="2000">
                <a:solidFill>
                  <a:srgbClr val="AACCEE"/>
                </a:solidFill>
              </a:defRPr>
            </a:pPr>
            <a:r>
              <a:t>주식시장 · 수요 시점 · 종목 분석</a:t>
            </a:r>
          </a:p>
          <a:p>
            <a:pPr>
              <a:spcBef>
                <a:spcPts val="2400"/>
              </a:spcBef>
              <a:defRPr sz="1200">
                <a:solidFill>
                  <a:srgbClr val="8899AA"/>
                </a:solidFill>
              </a:defRPr>
            </a:pPr>
            <a:r>
              <a:t>기준일: 2026년 7월 5일  |  Morgan Stanley · McKinsey · Gartner · CHIPS Act 교차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면책 및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본 자료는 공개 리서치·정책 문서 기반이며 투자 권유가 아닙니다.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시가총액·재무 수치는 변동성이 크므로 매매 전 최신 공시를 확인하세요.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수요 시점은 구조적 추정이며 실제 타이밍은 정책·기술·금리에 따라 달라집니다.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출처: Morgan Stanley Big Picture 2026, McKinsey/Gartner Tech Trends, CHIPS Act, Morningstar, IonQ IR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Executive Summary — 8대 메가트렌드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315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011680"/>
                <a:gridCol w="2194560"/>
                <a:gridCol w="2194560"/>
                <a:gridCol w="1645920"/>
              </a:tblGrid>
              <a:tr h="350519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메가트렌드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2030 규모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수요 집중 시기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현재 단계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AI 물리 인프라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Capex $800B–$1.1T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2025–2032 (지금)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백로그 폭발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원자력·AI 전력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유틸 $1.4T(26–30)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운영 25–28 / SMR 30–35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PPA rush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반도체·CHIPS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CHIPS $52.7B+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건설 peak / 48D 26.12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Fab 가동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양자 + PQC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QC $11.5B(2030)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PQC 26–31 / FTQC 28–32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조기 상업화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자율·로보틱스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$4–18B(2030)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공장 26–28 / 소비 28–32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파일럿→양산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우주 경제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~$2T(2040)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2026–2035 가속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SpaceX IPO 이후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바이오·GLP-1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$150–190B(30–35)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24–30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수요&gt;공급 완화</a:t>
                      </a:r>
                    </a:p>
                  </a:txBody>
                  <a:tcPr/>
                </a:tc>
              </a:tr>
              <a:tr h="3505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경제안보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Vault $12B 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2025–2030 구조적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정책 주도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핵심 메시지: Great Broadening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2026부터 수익이 메가캡 AI에서 전력·장비·국제·실물자산으로 분산 (Morgan Stanley)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하이퍼스케일러 2026 AI capex $527B~$690B → 2027 $1T+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AI capex의 75–80%는 칩이 아닌 건물·전력·냉각·그리드로 흐름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변압기·스위치기어 납기 최대 5년 → 공급 제약 = 가격·마진 우호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데이터센터 전력: 미국 전체 4.4% → 9%(2030), 2035 6배 (Morningstar)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투자 Horizon별 우선 메가트렌드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3200400"/>
              </a:tblGrid>
              <a:tr h="3886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Horizon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우선 트렌드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근거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0–2년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AI 물리 인프라, 원전 PPA, GLP-1, CHIPS 장비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지금 cash flow·backlog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3–5년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SMR, Quantum FTQC, Humanoid, Space Neutron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LOI→건설→가동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5–10년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PQC 완료, Bio-factory, Lunar economy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Regulatory deadline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① AI 물리 인프라 (2차 파생)</a:t>
            </a:r>
          </a:p>
          <a:p>
            <a:pPr>
              <a:defRPr sz="1200">
                <a:solidFill>
                  <a:srgbClr val="BBCCDD"/>
                </a:solidFill>
              </a:defRPr>
            </a:pPr>
            <a:r>
              <a:t>Electrons, Not Tokens — 2025–2032 수요 정점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Layer 1 칩·인터커넥트: NVDA, AVGO, MRVL, Lightelligence(1879.HK)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Layer 2 랙 전력·냉각: VRT (백로그 $15B, +270% YoY), ETN, ABB, Schneider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Layer 3 건물·백업: CAT ($63B backlog), GNRC, STX, PWR (Quanta $44B backlog)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Colo·네트워크: EQIX, DLR, ANET, CSCO, SMCI, DELL, HPE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전력 교차: CEG, FSLR  |  소형: HUT (GW급 AI campus)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① AI 인프라 — 핵심 종목 스냅샷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7498080" cy="251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2286000"/>
                <a:gridCol w="731520"/>
                <a:gridCol w="2834640"/>
              </a:tblGrid>
              <a:tr h="3592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티커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시총(추정)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구현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CEO 성향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NVDA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~$3T+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GPU 풀스택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Jensen Huang — 공격적 로드맵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VRT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~$50B+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랙 전력·액침냉각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Giorgio Bruno — M&amp;A 확장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ETN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~$140B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변압기·스위치기어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Craig Arnold — 저변동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PWR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~$60B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송전·DC EPC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전력 병목 해소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AVGO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~$1T+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커스텀 ASIC+스위치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Hock Tan — lock-in</a:t>
                      </a:r>
                    </a:p>
                  </a:txBody>
                  <a:tcPr/>
                </a:tc>
              </a:tr>
              <a:tr h="3592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~$180B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DC 건설·발전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숨은 AI 수혜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② 원자력·AI 전력</a:t>
            </a:r>
          </a:p>
          <a:p>
            <a:pPr>
              <a:defRPr sz="1200">
                <a:solidFill>
                  <a:srgbClr val="BBCCDD"/>
                </a:solidFill>
              </a:defRPr>
            </a:pPr>
            <a:r>
              <a:t>운영원전 2025–28  |  SMR 2030–35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Meta 6.6GW 패키지: Vistra 2.1GW + Oklo 1.2GW + TerraPower (2026.1)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MS·Google·Amazon·Oracle 동일 rush — baseload 전력 확보 경쟁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Cash-flow 유틸 (★★★★★): CEG, VST, TLN, D, NEE, SO, DUK, EXC, AEP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SMR pure-play (고위험): OKLO (Meta anchor), SMR (NRC 인증), NNE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인프라·연료: BWXT, GEV, CCJ (Westinghouse 49%), LEU (HALEU), 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③ 반도체·CHIPS 리쇼어링</a:t>
            </a:r>
          </a:p>
          <a:p>
            <a:pPr>
              <a:defRPr sz="1200">
                <a:solidFill>
                  <a:srgbClr val="BBCCDD"/>
                </a:solidFill>
              </a:defRPr>
            </a:pPr>
            <a:r>
              <a:t>48D 세액공제 35% — 2026.12.31 착공 마감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CHIPS $38.7B/39B 배정 — Intel $8.5B+대출, TSMC $6.6B, Samsung, Micron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Fab 가동: TSMC AZ 4nm, Intel 18A HVM, Samsung Taylor 2nm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Fab: INTC (turnaround), TSM, MU, GFS  |  장비: AMAT, LRCX, KLAC, ASML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Packaging·전력: AMKR, ON (SiC), MPWR, ARM, AMD, ENTG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Intel CEO Lip-Bu Tan — foundry pivot  |  장비사는 CHIPS 의존도 낮음 (자체 capex)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④ 양자컴퓨팅 + PQC</a:t>
            </a:r>
          </a:p>
          <a:p>
            <a:pPr>
              <a:defRPr sz="1200">
                <a:solidFill>
                  <a:srgbClr val="BBCCDD"/>
                </a:solidFill>
              </a:defRPr>
            </a:pPr>
            <a:r>
              <a:t>QC $2B→$11.5B(2030)  |  PQC 2026–2035 의무화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FTQC 로드맵: IonQ CRQC 2028, IBM 2029, Quantinuum Apollo 2030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하드웨어: IONQ, RGTI, QBTS, QUBT  |  빅테크: IBM, GOOGL, MSFT, AMZN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PQC: PANW, CRWD, NET (2029 TLS), FTNT, ZS, LAES/WKEY (secure element)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IonQ Q1'26: 매출 $64.7M (+755%), RPO $470M, FY26 $260–270M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CEO Niccolo de Masi — M&amp;A·SPAC aggressive  |  Peter Chapman → Executive Chair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IonQ vs Google Quantum AI — 기술 대조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321040" cy="251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474720"/>
                <a:gridCol w="3474720"/>
              </a:tblGrid>
              <a:tr h="3592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IonQ (트랩드 이온)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Google (Willow, 초전도)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큐비트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Forte ~36, Tempo ~100 (#AQ 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Willow 105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2큐비트 충실도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99.99% (업계 기록)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99.88%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연결성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All-to-all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Nearest-neighbor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오류정정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2027–28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below-threshold QEC 최초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상용화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매출·RPO 급성장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내부 R&amp;D + Cloud</a:t>
                      </a:r>
                    </a:p>
                  </a:txBody>
                  <a:tcPr/>
                </a:tc>
              </a:tr>
              <a:tr h="35923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종합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정밀도·매출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규모·QEC 연구 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⑤ 자율·로보틱스 스택</a:t>
            </a:r>
          </a:p>
          <a:p>
            <a:pPr>
              <a:defRPr sz="1200">
                <a:solidFill>
                  <a:srgbClr val="BBCCDD"/>
                </a:solidFill>
              </a:defRPr>
            </a:pPr>
            <a:r>
              <a:t>공장 2026–28  |  소비자 2028–32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Amazon 75만+ warehouse robots  |  Figure AI BotQ 1대/시간 (2026)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Tesla Optimus Gen3, Boston Dynamics Atlas → Hyundai commercial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직접: TSLA, UBTECH(9880.HK)  |  부품·SI: NVDA, TER, CGNX, ABB, FANUY, ROK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물류: AMZN, SYM (Walmart)  |  의료: ISRG  |  방산 드론: AVAV, KTOS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비상장: Figure AI ($39B), Agility Robotics — 간접 노출만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⑥ 우주 경제</a:t>
            </a:r>
          </a:p>
          <a:p>
            <a:pPr>
              <a:defRPr sz="1200">
                <a:solidFill>
                  <a:srgbClr val="BBCCDD"/>
                </a:solidFill>
              </a:defRPr>
            </a:pPr>
            <a:r>
              <a:t>SpaceX IPO (2026.6) — 섹터 벤치마크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PwC: 우주경제 $2T by 2040  |  RKLB Q1'26 매출 $200M (+63%), backlog $2.2B+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Launch: SPCX (SpaceX), RKLB (Neutron 2026), FLY (Firefly)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Connectivity: ASTS (space cellular), IRDM, GSAT  |  Earth obs: PL, BKSY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Lunar: LUNR  |  Defense prime: LMT, NOC, RTX, LHX  |  ETF: UFO, ARKX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⑦ 바이오·롱제비티 (Code Meets Cell)</a:t>
            </a:r>
          </a:p>
          <a:p>
            <a:pPr>
              <a:defRPr sz="1200">
                <a:solidFill>
                  <a:srgbClr val="BBCCDD"/>
                </a:solidFill>
              </a:defRPr>
            </a:pPr>
            <a:r>
              <a:t>GLP-1 $150–190B by 2030–35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LLY 62% + NVO 31% = 93% share (2030, TD Cowen)  |  59M 환자 (2030)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LLY: tirzepatide, orforglipron(oral), retatrutide  |  NVO: CagriSema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Challenger: AMGN (MariTide), VKTX, GPCR (oral)  |  Tools: TMO, DHR, ILMN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Gene edit: CRSP, NTLA, BEAM  |  Metabolic: DXCM, HIMS (telehealth)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수요 peak 2024–30  |  제네릭·oral 확대 2030+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⑧ 경제안보</a:t>
            </a:r>
          </a:p>
          <a:p>
            <a:pPr>
              <a:defRPr sz="1200">
                <a:solidFill>
                  <a:srgbClr val="BBCCDD"/>
                </a:solidFill>
              </a:defRPr>
            </a:pPr>
            <a:r>
              <a:t>방산·희토류·사이버 — 2025–2032 구조적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Project Vault $12B  |  MP Materials: DoD 15% 지분, NdPr floor $110/kg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희토류: MP, USAR, ALOY  |  구리: FCX, SCCO, BHP, RIO, TECK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리튬: ALB, SQM (cyclical)  |  방산: LMT, NOC, RTX, GD, LHX, HII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Gov AI: PLTR  |  Cyber: CRWD, PANW  |  MP CEO James Litinsky — China decouple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AI Value Chain — 자금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B4A"/>
                </a:solidFill>
              </a:defRPr>
            </a:pPr>
            <a:r>
              <a:t>하이퍼스케일러 Capex ($527B+)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  ├─ 1차: NVDA · AVGO · MRVL  (칩·ASIC)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  ├─ 2차: VRT · ETN · PWR · CAT  (전력·냉각·건설) ← 2026 outperform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  └─ 3차: CEG · VST  (전력 생산)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</a:p>
          <a:p>
            <a:pPr>
              <a:defRPr sz="1400" b="1">
                <a:solidFill>
                  <a:srgbClr val="1A2B4A"/>
                </a:solidFill>
              </a:defRPr>
            </a:pPr>
            <a:r>
              <a:t>Quantum Modality Tier (2030 FTQC)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  S: Google, IBM  |  A: IonQ, Quantinuum</a:t>
            </a:r>
          </a:p>
          <a:p>
            <a:pPr>
              <a:defRPr sz="1400" b="0">
                <a:solidFill>
                  <a:srgbClr val="222222"/>
                </a:solidFill>
              </a:defRPr>
            </a:pPr>
            <a:r>
              <a:t>  B: Rigetti, Atom Computing  |  C: D-Wave, QUBT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추가 고려사항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2296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K-형 경제: 고소득 AI·바이오 수혜 vs 저소득 전력요금↑ → 유틸 규제 리스크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중국 New China: EV·배터리·로봇 export — US reshoring 미러 trade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Capped Real Rates: 고부채 → 실질금리 상한 → 성장주·실물자산 우호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AI monetization gap: adoption &gt; monetization — vertical AI (healthcare) 선별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DC 지연 = Vertiv·Quanta 백로그 연장 (단기 negative, 장기 positive)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ETF: SOXX/SMH, NUKZ, UFO/ARKX, BOTZ/ROBO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트렌드별 정리 종목 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229600" cy="315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5029200"/>
              </a:tblGrid>
              <a:tr h="350519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트렌드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종목 수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대표 티커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AI 물리 인프라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VRT, ETN, PWR, NVDA, AVGO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원자력·전력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CEG, VST, OKLO, CCJ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반도체·CHIPS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INTC, TSM, AMAT, ASML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양자 + PQC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IONQ, IBM, GOOGL, PANW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자율·로보틱스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TSLA, ISRG, AMZN, NVDA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우주 경제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SPCX, RKLB, ASTS, LMT</a:t>
                      </a:r>
                    </a:p>
                  </a:txBody>
                  <a:tcPr/>
                </a:tc>
              </a:tr>
              <a:tr h="3505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바이오·GLP-1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LLY, NVO, AMGN, TMO</a:t>
                      </a:r>
                    </a:p>
                  </a:txBody>
                  <a:tcPr/>
                </a:tc>
              </a:tr>
              <a:tr h="3505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경제안보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MP, FCX, LMT, PLTR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7863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결론</a:t>
            </a:r>
          </a:p>
          <a:p>
            <a:pPr>
              <a:spcBef>
                <a:spcPts val="1000"/>
              </a:spcBef>
              <a:defRPr sz="1800">
                <a:solidFill>
                  <a:srgbClr val="CCDDEE"/>
                </a:solidFill>
              </a:defRPr>
            </a:pPr>
            <a:r>
              <a:t>2026–2030 핵심 = AI가 만든 전기·실물·안보 수요</a:t>
            </a:r>
          </a:p>
          <a:p>
            <a:pPr>
              <a:spcBef>
                <a:spcPts val="1000"/>
              </a:spcBef>
              <a:defRPr sz="1800">
                <a:solidFill>
                  <a:srgbClr val="CCDDEE"/>
                </a:solidFill>
              </a:defRPr>
            </a:pPr>
            <a:r>
              <a:t>지금 수요 집중: AI 2차 인프라 · GLP-1 · 원전 PPA · CHIPS 장비</a:t>
            </a:r>
          </a:p>
          <a:p>
            <a:pPr>
              <a:spcBef>
                <a:spcPts val="1000"/>
              </a:spcBef>
              <a:defRPr sz="1800">
                <a:solidFill>
                  <a:srgbClr val="CCDDEE"/>
                </a:solidFill>
              </a:defRPr>
            </a:pPr>
            <a:r>
              <a:t>다음 Wave (2028–32): SMR · FTQC · Humanoid B2B · PQC 의무화</a:t>
            </a:r>
          </a:p>
          <a:p>
            <a:pPr>
              <a:spcBef>
                <a:spcPts val="1000"/>
              </a:spcBef>
              <a:defRPr sz="1800">
                <a:solidFill>
                  <a:srgbClr val="CCDDEE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CCDDEE"/>
                </a:solidFill>
              </a:defRPr>
            </a:pPr>
            <a:r>
              <a:t>Great Broadening — 좁은 승자에서 넓은 기회로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